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8" Type="http://schemas.openxmlformats.org/officeDocument/2006/relationships/font" Target="fonts/ArialBlack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the following slides is already run and logged. All artifacts are in the Progress folder; every number is reproducible from the scripts listed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scale and reproducibility. The point is that the pipeline exists and produces auditable data, not that the results are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Interval is a Wilson 95% interval. Do not describe these as final: they are a pilot with 60 questions and one vendor's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honest version: our own hypothesis did not survive. Say it plainly, then say what replaced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careful and precise: this is one prompt instantiation, not a refutation of Dubois et al. But it is directly relevant to anyone deploying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important slide for planning: it tells us where not to spend the remaining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Volunteer the classifier weakness before someone finds it. It is the cleanest evidence that we are testing our instruments, not just our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finding that changes Phase 1. It is also the strongest example of the methodology the review asked for: measure the instrument before trusting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decisions, not on numbers. Each bullet is something we will do differently because of evidence we generated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Image">
  <p:cSld name="Title with Imag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' primary word mark in blue and orange. 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092" y="965232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" name="Google Shape;17;p2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Bell Tower in blue and white."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527" y="3429000"/>
            <a:ext cx="11466734" cy="29409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blue."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No Image">
  <p:cSld name="Title with No Imag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' primary word mark in blue and orange. "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092" y="1780241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59738" y="3155726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359738" y="4078894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808717" y="3242028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524000" y="4417047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Alma">
  <p:cSld name="Overview with Alma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" name="Google Shape;41;p5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359738" y="1646972"/>
            <a:ext cx="573626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niversity of Illinois Alma Mater Statue in blue and white. 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738" y="356535"/>
            <a:ext cx="5516523" cy="556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">
  <p:cSld name="Overview with Imag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8" name="Google Shape;48;p6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" name="Google Shape;49;p6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59738" y="1646972"/>
            <a:ext cx="5736262" cy="41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/>
          <p:nvPr>
            <p:ph idx="2" type="pic"/>
          </p:nvPr>
        </p:nvSpPr>
        <p:spPr>
          <a:xfrm>
            <a:off x="6315698" y="356535"/>
            <a:ext cx="5516563" cy="54463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">
  <p:cSld name="Title and 2 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839788" y="1681163"/>
            <a:ext cx="5157787" cy="4993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6172200" y="1681163"/>
            <a:ext cx="5183188" cy="4993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58" name="Google Shape;5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0" name="Google Shape;60;p7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8"/>
          <p:cNvCxnSpPr/>
          <p:nvPr/>
        </p:nvCxnSpPr>
        <p:spPr>
          <a:xfrm>
            <a:off x="389220" y="520244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" name="Google Shape;66;p8"/>
          <p:cNvSpPr txBox="1"/>
          <p:nvPr>
            <p:ph type="title"/>
          </p:nvPr>
        </p:nvSpPr>
        <p:spPr>
          <a:xfrm>
            <a:off x="867682" y="2589495"/>
            <a:ext cx="10515600" cy="1406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8"/>
          <p:cNvCxnSpPr/>
          <p:nvPr/>
        </p:nvCxnSpPr>
        <p:spPr>
          <a:xfrm>
            <a:off x="389221" y="6356350"/>
            <a:ext cx="1043861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" name="Google Shape;68;p8"/>
          <p:cNvSpPr txBox="1"/>
          <p:nvPr>
            <p:ph idx="1" type="body"/>
          </p:nvPr>
        </p:nvSpPr>
        <p:spPr>
          <a:xfrm>
            <a:off x="3446463" y="4115342"/>
            <a:ext cx="5164137" cy="365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1"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3 Items">
  <p:cSld name="Title and Content with 3 Item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1963267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1963268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5" name="Google Shape;75;p9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" name="Google Shape;76;p9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/>
          <p:nvPr>
            <p:ph idx="2" type="pic"/>
          </p:nvPr>
        </p:nvSpPr>
        <p:spPr>
          <a:xfrm>
            <a:off x="2140274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2120889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9"/>
          <p:cNvSpPr/>
          <p:nvPr/>
        </p:nvSpPr>
        <p:spPr>
          <a:xfrm>
            <a:off x="4800252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800253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9"/>
          <p:cNvSpPr/>
          <p:nvPr>
            <p:ph idx="3" type="pic"/>
          </p:nvPr>
        </p:nvSpPr>
        <p:spPr>
          <a:xfrm>
            <a:off x="4977259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4957874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9"/>
          <p:cNvSpPr/>
          <p:nvPr/>
        </p:nvSpPr>
        <p:spPr>
          <a:xfrm>
            <a:off x="7637237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637238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9"/>
          <p:cNvSpPr/>
          <p:nvPr>
            <p:ph idx="5" type="pic"/>
          </p:nvPr>
        </p:nvSpPr>
        <p:spPr>
          <a:xfrm>
            <a:off x="7814244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9"/>
          <p:cNvSpPr txBox="1"/>
          <p:nvPr>
            <p:ph idx="6" type="body"/>
          </p:nvPr>
        </p:nvSpPr>
        <p:spPr>
          <a:xfrm>
            <a:off x="7794859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9"/>
          <p:cNvSpPr txBox="1"/>
          <p:nvPr>
            <p:ph idx="7" type="body"/>
          </p:nvPr>
        </p:nvSpPr>
        <p:spPr>
          <a:xfrm>
            <a:off x="1963266" y="5269307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8" type="body"/>
          </p:nvPr>
        </p:nvSpPr>
        <p:spPr>
          <a:xfrm>
            <a:off x="4800250" y="5257584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idx="9" type="body"/>
          </p:nvPr>
        </p:nvSpPr>
        <p:spPr>
          <a:xfrm>
            <a:off x="7637234" y="5269307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Image">
  <p:cSld name="1_Title with Imag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tatue of a person with her arms out&#10;&#10;Description automatically generated" id="95" name="Google Shape;95;p11"/>
          <p:cNvPicPr preferRelativeResize="0"/>
          <p:nvPr/>
        </p:nvPicPr>
        <p:blipFill rotWithShape="1">
          <a:blip r:embed="rId2">
            <a:alphaModFix/>
          </a:blip>
          <a:srcRect b="0" l="-50" r="0" t="0"/>
          <a:stretch/>
        </p:blipFill>
        <p:spPr>
          <a:xfrm>
            <a:off x="353952" y="3429000"/>
            <a:ext cx="11472522" cy="2927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Illinois' primary word mark in blue and orange. " id="96" name="Google Shape;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092" y="965232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99" name="Google Shape;99;p11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0" name="Google Shape;100;p11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1" name="Google Shape;101;p11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highlight>
                  <a:srgbClr val="FF5F03"/>
                </a:highlight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105" name="Google Shape;1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838200" y="1955165"/>
            <a:ext cx="312941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856874" y="2591819"/>
            <a:ext cx="3110742" cy="3047934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4249845" y="1955165"/>
            <a:ext cx="708528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2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0" name="Google Shape;110;p12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12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/>
          <p:nvPr>
            <p:ph idx="2" type="pic"/>
          </p:nvPr>
        </p:nvSpPr>
        <p:spPr>
          <a:xfrm>
            <a:off x="1033880" y="2755665"/>
            <a:ext cx="2732088" cy="2720241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2"/>
          <p:cNvSpPr txBox="1"/>
          <p:nvPr>
            <p:ph idx="3" type="body"/>
          </p:nvPr>
        </p:nvSpPr>
        <p:spPr>
          <a:xfrm>
            <a:off x="838201" y="1955163"/>
            <a:ext cx="2927768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Image - Blue">
  <p:cSld name="Title with Image - Blu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21" name="Google Shape;121;p14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14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3" name="Google Shape;123;p14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Bell Tower in blue and white." id="124" name="Google Shape;12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527" y="3429000"/>
            <a:ext cx="11466734" cy="294099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2284B"/>
              </a:buClr>
              <a:buSzPts val="2400"/>
              <a:buNone/>
              <a:defRPr b="0" i="0" sz="24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103" y="963483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No Image - Blue">
  <p:cSld name="Title No Image - Blu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59738" y="3155726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59738" y="4078894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15"/>
          <p:cNvSpPr txBox="1"/>
          <p:nvPr>
            <p:ph type="title"/>
          </p:nvPr>
        </p:nvSpPr>
        <p:spPr>
          <a:xfrm>
            <a:off x="808717" y="3242028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" type="subTitle"/>
          </p:nvPr>
        </p:nvSpPr>
        <p:spPr>
          <a:xfrm>
            <a:off x="1524000" y="4417047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133" name="Google Shape;1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103" y="1801439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6222670"/>
            <a:ext cx="12192000" cy="63533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8" name="Google Shape;138;p16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16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white letter on a black background&#10;&#10;Description automatically generated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60173"/>
            <a:ext cx="2101933" cy="36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Divider">
  <p:cSld name="2_Section 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6222670"/>
            <a:ext cx="12192000" cy="63533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5" name="Google Shape;145;p17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17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white letter on a black background&#10;&#10;Description automatically generated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60173"/>
            <a:ext cx="2101933" cy="36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 - Blue">
  <p:cSld name="Overview with Image - Blu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2" name="Google Shape;152;p18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359738" y="1646972"/>
            <a:ext cx="5736262" cy="4245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niversity of Illinois logo in orange and white." id="154" name="Google Shape;15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>
            <p:ph idx="2" type="pic"/>
          </p:nvPr>
        </p:nvSpPr>
        <p:spPr>
          <a:xfrm>
            <a:off x="6315698" y="445905"/>
            <a:ext cx="5516563" cy="54463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Blue">
  <p:cSld name="Title and Content - Blu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0" name="Google Shape;160;p19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1" name="Google Shape;161;p19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white." id="162" name="Google Shape;1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Columns - Blue">
  <p:cSld name="Title and Content 2 Columns - Blu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9788" y="1681163"/>
            <a:ext cx="5157787" cy="499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body"/>
          </p:nvPr>
        </p:nvSpPr>
        <p:spPr>
          <a:xfrm>
            <a:off x="6172200" y="1681163"/>
            <a:ext cx="5183188" cy="499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7" name="Google Shape;167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1" name="Google Shape;171;p20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white." id="172" name="Google Shape;1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- Blue">
  <p:cSld name="Questions - Blu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5" name="Google Shape;175;p21"/>
          <p:cNvCxnSpPr/>
          <p:nvPr/>
        </p:nvCxnSpPr>
        <p:spPr>
          <a:xfrm>
            <a:off x="389220" y="520244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6" name="Google Shape;176;p21"/>
          <p:cNvCxnSpPr/>
          <p:nvPr/>
        </p:nvCxnSpPr>
        <p:spPr>
          <a:xfrm>
            <a:off x="389221" y="6356350"/>
            <a:ext cx="1043861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logo in orange and white." id="177" name="Google Shape;17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>
            <p:ph type="title"/>
          </p:nvPr>
        </p:nvSpPr>
        <p:spPr>
          <a:xfrm>
            <a:off x="838200" y="25964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- Blue">
  <p:cSld name="Title and Content with Image - Blu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838200" y="1955165"/>
            <a:ext cx="3129416" cy="459051"/>
          </a:xfrm>
          <a:prstGeom prst="rect">
            <a:avLst/>
          </a:prstGeom>
          <a:solidFill>
            <a:srgbClr val="FF5F03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856874" y="2591819"/>
            <a:ext cx="3110742" cy="3047934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4249845" y="1955165"/>
            <a:ext cx="708528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2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6" name="Google Shape;186;p22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2"/>
          <p:cNvSpPr/>
          <p:nvPr>
            <p:ph idx="2" type="pic"/>
          </p:nvPr>
        </p:nvSpPr>
        <p:spPr>
          <a:xfrm>
            <a:off x="1033880" y="2755665"/>
            <a:ext cx="2732088" cy="2720241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2"/>
          <p:cNvSpPr txBox="1"/>
          <p:nvPr>
            <p:ph idx="3" type="body"/>
          </p:nvPr>
        </p:nvSpPr>
        <p:spPr>
          <a:xfrm>
            <a:off x="838201" y="1955163"/>
            <a:ext cx="2927768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descr="University of Illinois logo in orange and white." id="189" name="Google Shape;18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lue" type="titleOnly">
  <p:cSld name="TITLE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white." id="193" name="Google Shape;19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Image - Blue">
  <p:cSld name="1_Title with Image - Blue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walking on a sidewalk&#10;&#10;Description automatically generated" id="195" name="Google Shape;19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9738" y="3429001"/>
            <a:ext cx="11509954" cy="29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" name="Google Shape;199;p24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24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24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highlight>
                  <a:srgbClr val="12284B"/>
                </a:highlight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103" y="963483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 b="1" i="0" sz="4400" u="none" cap="none" strike="noStrike">
                <a:solidFill>
                  <a:srgbClr val="12284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 b="1" i="0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214884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969" cy="82296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Pilot results: what we 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E6EAF2"/>
                </a:solidFill>
              </a:rPr>
              <a:t>What we ran, what came back, and what it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3294B"/>
                </a:solidFill>
              </a:rPr>
              <a:t>Progress since the proposal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05050"/>
                </a:solidFill>
              </a:rPr>
              <a:t>Group 6 · CS 598 HCI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05050"/>
                </a:solidFill>
              </a:rPr>
              <a:t>Devansh Agrawal · Zhongyin Wang · Sahil Sashi · Mathew Pan · Xuejun Zhang · Zoey Yao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What we actually built and ran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548"/>
                <a:gridCol w="5527548"/>
              </a:tblGrid>
              <a:tr h="5225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Artifact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Scale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Question set with verified answers + plausible wrong alternative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60 items: 30 math (answers recomputed from expressions, 0 failures), 30 factual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Pushback stimuli, both directions, four forms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480 texts = 60 questions × 2 directions × (3 reconstructed + scripted)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RQ2 trials (no intervention)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960 = 2 models × 4 forms × 2 directions × 60 questions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RQ3 trials (4 conditions)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1,440 = 4 conditions × 3 forms × 2 directions × 60 questions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Multi-turn escalation arm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240 conversations × 3 escalating pushback rounds = 720 replies</a:t>
                      </a:r>
                    </a:p>
                  </a:txBody>
                  <a:tcPr marL="54864" marR="54864"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Total across all runs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~9,600 model calls, ~$1.00; the main pilot alone was 4,421 calls / $0.48 in 8 minutes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Fully resumable: every trial is appended to a JSONL log, so an interrupted run continues where it stopped.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RQ2: how the two models respond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2211019"/>
                <a:gridCol w="2211019"/>
                <a:gridCol w="2211019"/>
                <a:gridCol w="2211020"/>
              </a:tblGrid>
              <a:tr h="40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Pushback form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Cave \| user wrong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Accept \| user right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factual_correction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1.7%  [0, 9]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+95.0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clarification_demand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5.0%  [2, 14]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95.0%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+90.0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emotional_pushback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5.0%  [2, 14]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+93.3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scripted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3.3%  [1, 11]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96.7%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+91.7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factual_correction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1.7%  [0, 9]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+95.0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clarification_demand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1.7%  [0, 9]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+95.0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emotional_pushback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5.0%  [2, 14]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95.0%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+90.0</a:t>
                      </a:r>
                    </a:p>
                  </a:txBody>
                  <a:tcPr marL="54864" marR="54864"/>
                </a:tc>
              </a:tr>
              <a:tr h="406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scripted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1.7%  [0, 9]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+93.3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846320"/>
            <a:ext cx="110550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</a:rPr>
              <a:t>n = 120 per cell. J = P(hold | user wrong) + P(accept | user right) − 1; 0 is chance.</a:t>
            </a:r>
          </a:p>
          <a:p>
            <a:pPr marL="237744" indent="-237744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</a:rPr>
              <a:t>Caving is rare in this design, and accepting a valid correction is near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Two things the pilot already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10550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100"/>
              </a:spcAft>
              <a:buChar char="•"/>
            </a:pPr>
            <a:r>
              <a:rPr sz="1500" b="1">
                <a:solidFill>
                  <a:srgbClr val="222222"/>
                </a:solidFill>
              </a:rPr>
              <a:t>Task type dominates pushback form.</a:t>
            </a:r>
          </a:p>
          <a:p>
            <a:pPr lvl="1" marL="512064" indent="-201168">
              <a:spcAft>
                <a:spcPts val="1100"/>
              </a:spcAft>
              <a:buChar char="–"/>
            </a:pPr>
            <a:r>
              <a:rPr sz="1400" b="0">
                <a:solidFill>
                  <a:srgbClr val="222222"/>
                </a:solidFill>
              </a:rPr>
              <a:t>Every caving event came from factual-knowledge items. Arithmetic the model can verify by computation was immune: 0.0% caving for both models on math, 7.8% and 5.6% on facts.</a:t>
            </a:r>
          </a:p>
          <a:p>
            <a:pPr marL="237744" indent="-237744">
              <a:spcAft>
                <a:spcPts val="1100"/>
              </a:spcAft>
              <a:buChar char="•"/>
            </a:pPr>
            <a:r>
              <a:rPr sz="1500" b="1">
                <a:solidFill>
                  <a:srgbClr val="222222"/>
                </a:solidFill>
              </a:rPr>
              <a:t>Scripted pushback did not misestimate caving.</a:t>
            </a:r>
          </a:p>
          <a:p>
            <a:pPr lvl="1" marL="512064" indent="-201168">
              <a:spcAft>
                <a:spcPts val="1100"/>
              </a:spcAft>
              <a:buChar char="–"/>
            </a:pPr>
            <a:r>
              <a:rPr sz="1400" b="0">
                <a:solidFill>
                  <a:srgbClr val="222222"/>
                </a:solidFill>
              </a:rPr>
              <a:t>Reconstructed vs scripted, paired over questions: flash −1.7 pp [−6, 3], pro −0.8 pp [−3, 2]. Both intervals span zero. Our original motivating gap — “scripted pushback hides the real problem” — is not reproduced here.</a:t>
            </a:r>
          </a:p>
          <a:p>
            <a:pPr marL="237744" indent="-237744">
              <a:spcAft>
                <a:spcPts val="1100"/>
              </a:spcAft>
              <a:buChar char="•"/>
            </a:pPr>
            <a:r>
              <a:rPr sz="1500" b="1">
                <a:solidFill>
                  <a:srgbClr val="222222"/>
                </a:solidFill>
              </a:rPr>
              <a:t>What that means for the framing.</a:t>
            </a:r>
          </a:p>
          <a:p>
            <a:pPr lvl="1" marL="512064" indent="-201168">
              <a:spcAft>
                <a:spcPts val="1100"/>
              </a:spcAft>
              <a:buChar char="–"/>
            </a:pPr>
            <a:r>
              <a:rPr sz="1400" b="0">
                <a:solidFill>
                  <a:srgbClr val="222222"/>
                </a:solidFill>
              </a:rPr>
              <a:t>The difference between lab and real pushback may be about context and history, not about wording. That is a sharper and more useful question than the one we proposed.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RQ3: does type-aware guidance add anything?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774"/>
                <a:gridCol w="2763774"/>
                <a:gridCol w="2763774"/>
                <a:gridCol w="2763774"/>
              </a:tblGrid>
              <a:tr h="731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Cave \| user wrong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Accept \| user right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none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3.9%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97.2%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+92.8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reframe (published fix)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8.9%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93.3%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+82.8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verify_only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96.7%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+94.4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verify_type (ours)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97.8%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+95.6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383280"/>
            <a:ext cx="11055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9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Pre-registered contrast, verify_type vs verify_only:</a:t>
            </a:r>
          </a:p>
          <a:p>
            <a:pPr lvl="1" marL="512064" indent="-201168">
              <a:spcAft>
                <a:spcPts val="9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cave −0.8 pp [−2, 1], good outcome +0.6 pp [−1, 2]. Null. We can rule out a gain larger than about 2 pp — and with caving already at 2%, there was little room.</a:t>
            </a:r>
          </a:p>
          <a:p>
            <a:pPr marL="237744" indent="-237744">
              <a:spcAft>
                <a:spcPts val="9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The unexpected result: question reframing made things worse.</a:t>
            </a:r>
          </a:p>
          <a:p>
            <a:pPr lvl="1" marL="512064" indent="-201168">
              <a:spcAft>
                <a:spcPts val="9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+3.9 pp caving [1, 7], good outcome −5.0 pp [−8, −2]. Mechanism is visible in the transcripts: the model restates the user's wrong claim as a question and then answers from that premise. Contradicts the published benefit in a setting closer to real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Does caving accumulate? No.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46304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2211019"/>
                <a:gridCol w="2211019"/>
                <a:gridCol w="2211019"/>
                <a:gridCol w="2211020"/>
              </a:tblGrid>
              <a:tr h="121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After push 1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After push 2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After push 3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Accept after 3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pro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98.3%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017520"/>
            <a:ext cx="1105509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240 conversations, three escalating pushbacks each, claim held constant (counter-assertion → basis challenge → frustration).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The curve is flat. Repeated pressure does not produce caving on short verifiable answers, which rules out “one turn is too weak” as the explanation for the floor.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What is left: supplying the initial answer as history anchors the model, and the items are unambiguous, so there is a strongly represented correct answer to fall back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Caving here is a design artifact, not a model property. Next iteration changes the design, not the sample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Can we trust the numbers? Instrument checks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731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Instrument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Consequence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Verification call vs answer key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99.6% (717/720)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the verification component works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Answer-state detector vs extractor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91.7% (110/120)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109 labels were re-derived; extractor label used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Classifier on our stimuli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trivial — the stimuli came from templates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Classifier on real 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55.9% (33/59)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clarification recall only 35%: type-aware arm rests on a weak detector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The uncomfortable one is the last row. Any claim about type-awareness has to carry that caveat.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Phase 1: the lexical filter we proposed recovers 2% of pushback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731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Precision (candidates that are genuine pushback)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58.0%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[50.0, 65.6]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Recall (genuine pushback the filter retrieves)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[0.7, 5.7]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Candidate yield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4.2 per 1,000 English pairs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Implied prevalence of genuine 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~12.2% of pairs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246120"/>
            <a:ext cx="11055096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Measured on 60,000 conversations (34,800 English, 37,857 usable assistant→user pairs).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Pushback is common but lexically invisible: about one pair in eight is a genuine challenge, and the cue suite finds one in fifty.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Our earlier 20.7% figure was recall measured inside a set already known to be pushback — an optimistic ceiling. Against the open corpus the same idea performs at 2%.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Cue precision varies from 100% ("that's wrong", n=5) to 37% ("incorrect", n=59). If we keep a lexical pass, cues must be weighted, and a semantic stage must do the 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What this changes in the remaining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80160"/>
            <a:ext cx="11055096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1. Phase 1 becomes semantic retrieval plus human coding.</a:t>
            </a:r>
          </a:p>
          <a:p>
            <a:pPr lvl="1" marL="512064" indent="-201168">
              <a:spcAft>
                <a:spcPts val="10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A weighted lexical pre-filter at 58% precision can seed candidates, but it cannot be the sampling strategy. Recall at 2% would make the corpus a biased slice.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2. The pushback experiment needs a harder design, not more trials.</a:t>
            </a:r>
          </a:p>
          <a:p>
            <a:pPr lvl="1" marL="512064" indent="-201168">
              <a:spcAft>
                <a:spcPts val="10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Natural-context replay with model-generated answers, and items where the plausible wrong answer is genuinely attractive. The supplied-history design is at the floor.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3. Validate the classifier before claiming type-awareness.</a:t>
            </a:r>
          </a:p>
          <a:p>
            <a:pPr lvl="1" marL="512064" indent="-201168">
              <a:spcAft>
                <a:spcPts val="10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At 55.9% on real pushback, the type label is closer to noise than signal. Either improve it or drop the type-aware arm to a mechanism study.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1">
                <a:solidFill>
                  <a:srgbClr val="222222"/>
                </a:solidFill>
              </a:rPr>
              <a:t>4. Treat published fixes as hypotheses.</a:t>
            </a:r>
          </a:p>
          <a:p>
            <a:pPr lvl="1" marL="512064" indent="-201168">
              <a:spcAft>
                <a:spcPts val="1000"/>
              </a:spcAft>
              <a:buChar char="–"/>
            </a:pPr>
            <a:r>
              <a:rPr sz="1300" b="0">
                <a:solidFill>
                  <a:srgbClr val="222222"/>
                </a:solidFill>
              </a:rPr>
              <a:t>Question reframing degraded performance in our implementation. That is worth reporting and worth understanding — it is a finding, not a problem with our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ini Theme - Newspaper Blue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llini Theme - Newspaper 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