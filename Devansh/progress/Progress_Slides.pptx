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Arial Black"/>
      <p:regular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8" Type="http://schemas.openxmlformats.org/officeDocument/2006/relationships/font" Target="fonts/ArialBlack-regular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on the following slides is already run and logged. All artifacts are in the Progress folder; every number is reproducible from the scripts listed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Lead with scale and reproducibility. The point is that the pipeline exists and produces auditable data, not that the results are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Interval is a Wilson 95% interval. Do not describe these as final: they are a pilot with 60 questions and one vendor's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honest version: our own hypothesis did not survive. Say it plainly, then say what replaced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careful and precise: this is one prompt instantiation, not a refutation of Dubois et al. But it is directly relevant to anyone deploying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most important slide for planning: it tells us where not to spend the remaining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Volunteer the classifier weakness before someone finds it. It is the cleanest evidence that we are testing our instruments, not just our hypotheses.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finding that changes Phase 1. It is also the strongest example of the methodology the review asked for: measure the instrument before trusting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Prescreen agreement is AI-to-AI, not against human labels. Say that before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honest read: the scheme is usable, with one code flagged. That is exactly what the two-human pass needs to know in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project's central empirical finding. If only one slide from the pilot survives, it is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decisions, not on numbers. Each bullet is something we will do differently because of evidence we generated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Image">
  <p:cSld name="Title with Imag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versity of Illinois' primary word mark in blue and orange. " id="14" name="Google Shape;14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72092" y="965232"/>
            <a:ext cx="5047816" cy="86767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359738" y="2340717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7" name="Google Shape;17;p2"/>
          <p:cNvCxnSpPr/>
          <p:nvPr/>
        </p:nvCxnSpPr>
        <p:spPr>
          <a:xfrm>
            <a:off x="359738" y="3263885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" name="Google Shape;18;p2"/>
          <p:cNvSpPr txBox="1"/>
          <p:nvPr>
            <p:ph type="title"/>
          </p:nvPr>
        </p:nvSpPr>
        <p:spPr>
          <a:xfrm>
            <a:off x="808717" y="2427019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 Black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359738" y="456517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descr="University of Illinois Bell Tower in blue and white." id="20" name="Google Shape;2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527" y="3429000"/>
            <a:ext cx="11466734" cy="2940994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2"/>
          <p:cNvSpPr txBox="1"/>
          <p:nvPr>
            <p:ph idx="1" type="subTitle"/>
          </p:nvPr>
        </p:nvSpPr>
        <p:spPr>
          <a:xfrm>
            <a:off x="1524000" y="3602038"/>
            <a:ext cx="9144000" cy="365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26" name="Google Shape;26;p3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7" name="Google Shape;27;p3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University of Illinois logo in orange and blue." id="28" name="Google Shape;28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No Image">
  <p:cSld name="Title with No Imag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versity of Illinois' primary word mark in blue and orange. " id="30" name="Google Shape;30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72092" y="1780241"/>
            <a:ext cx="5047816" cy="86767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359738" y="3155726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33" name="Google Shape;33;p4"/>
          <p:cNvCxnSpPr/>
          <p:nvPr/>
        </p:nvCxnSpPr>
        <p:spPr>
          <a:xfrm>
            <a:off x="359738" y="4078894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4" name="Google Shape;34;p4"/>
          <p:cNvSpPr txBox="1"/>
          <p:nvPr>
            <p:ph type="title"/>
          </p:nvPr>
        </p:nvSpPr>
        <p:spPr>
          <a:xfrm>
            <a:off x="808717" y="3242028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 Black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" type="subTitle"/>
          </p:nvPr>
        </p:nvSpPr>
        <p:spPr>
          <a:xfrm>
            <a:off x="1524000" y="4417047"/>
            <a:ext cx="9144000" cy="365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 with Alma">
  <p:cSld name="Overview with Alma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38" name="Google Shape;38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5"/>
          <p:cNvSpPr/>
          <p:nvPr/>
        </p:nvSpPr>
        <p:spPr>
          <a:xfrm>
            <a:off x="359739" y="356535"/>
            <a:ext cx="5736262" cy="771700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40" name="Google Shape;40;p5"/>
          <p:cNvCxnSpPr/>
          <p:nvPr/>
        </p:nvCxnSpPr>
        <p:spPr>
          <a:xfrm>
            <a:off x="359738" y="1343417"/>
            <a:ext cx="5736262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" name="Google Shape;41;p5"/>
          <p:cNvSpPr txBox="1"/>
          <p:nvPr>
            <p:ph type="title"/>
          </p:nvPr>
        </p:nvSpPr>
        <p:spPr>
          <a:xfrm>
            <a:off x="359738" y="445905"/>
            <a:ext cx="5736262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" type="body"/>
          </p:nvPr>
        </p:nvSpPr>
        <p:spPr>
          <a:xfrm>
            <a:off x="359738" y="1646972"/>
            <a:ext cx="5736262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800"/>
              <a:buFont typeface="Georgia"/>
              <a:buAutoNum type="arabicPeriod"/>
              <a:defRPr b="1" i="0"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AutoNum type="arabicPeriod"/>
              <a:defRPr/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University of Illinois Alma Mater Statue in blue and white. " id="43" name="Google Shape;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15738" y="356535"/>
            <a:ext cx="5516523" cy="55671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 with Image">
  <p:cSld name="Overview with Image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46" name="Google Shape;46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6"/>
          <p:cNvSpPr/>
          <p:nvPr/>
        </p:nvSpPr>
        <p:spPr>
          <a:xfrm>
            <a:off x="359739" y="356535"/>
            <a:ext cx="5736262" cy="771700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48" name="Google Shape;48;p6"/>
          <p:cNvCxnSpPr/>
          <p:nvPr/>
        </p:nvCxnSpPr>
        <p:spPr>
          <a:xfrm>
            <a:off x="359738" y="1343417"/>
            <a:ext cx="5736262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9" name="Google Shape;49;p6"/>
          <p:cNvSpPr txBox="1"/>
          <p:nvPr>
            <p:ph type="title"/>
          </p:nvPr>
        </p:nvSpPr>
        <p:spPr>
          <a:xfrm>
            <a:off x="359738" y="445905"/>
            <a:ext cx="5736262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359738" y="1646972"/>
            <a:ext cx="5736262" cy="41559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800"/>
              <a:buFont typeface="Georgia"/>
              <a:buAutoNum type="arabicPeriod"/>
              <a:defRPr b="1" i="0"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AutoNum type="arabicPeriod"/>
              <a:defRPr/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6"/>
          <p:cNvSpPr/>
          <p:nvPr>
            <p:ph idx="2" type="pic"/>
          </p:nvPr>
        </p:nvSpPr>
        <p:spPr>
          <a:xfrm>
            <a:off x="6315698" y="356535"/>
            <a:ext cx="5516563" cy="5446387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Title and 2 Column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idx="1" type="body"/>
          </p:nvPr>
        </p:nvSpPr>
        <p:spPr>
          <a:xfrm>
            <a:off x="839788" y="1681163"/>
            <a:ext cx="5157787" cy="49932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400"/>
              <a:buNone/>
              <a:defRPr b="0" i="1" sz="2400">
                <a:solidFill>
                  <a:srgbClr val="FF5F0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▪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▪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▪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3" type="body"/>
          </p:nvPr>
        </p:nvSpPr>
        <p:spPr>
          <a:xfrm>
            <a:off x="6172200" y="1681163"/>
            <a:ext cx="5183188" cy="49932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400"/>
              <a:buNone/>
              <a:defRPr b="0" i="1" sz="2400">
                <a:solidFill>
                  <a:srgbClr val="FF5F0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6" name="Google Shape;56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▪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▪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▪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58" name="Google Shape;58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7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60" name="Google Shape;60;p7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1" name="Google Shape;61;p7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Quot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64" name="Google Shape;64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5" name="Google Shape;65;p8"/>
          <p:cNvCxnSpPr/>
          <p:nvPr/>
        </p:nvCxnSpPr>
        <p:spPr>
          <a:xfrm>
            <a:off x="389220" y="520244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6" name="Google Shape;66;p8"/>
          <p:cNvSpPr txBox="1"/>
          <p:nvPr>
            <p:ph type="title"/>
          </p:nvPr>
        </p:nvSpPr>
        <p:spPr>
          <a:xfrm>
            <a:off x="867682" y="2589495"/>
            <a:ext cx="10515600" cy="14066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4400"/>
              <a:buFont typeface="Arial Black"/>
              <a:buNone/>
              <a:defRPr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67" name="Google Shape;67;p8"/>
          <p:cNvCxnSpPr/>
          <p:nvPr/>
        </p:nvCxnSpPr>
        <p:spPr>
          <a:xfrm>
            <a:off x="389221" y="6356350"/>
            <a:ext cx="1043861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8" name="Google Shape;68;p8"/>
          <p:cNvSpPr txBox="1"/>
          <p:nvPr>
            <p:ph idx="1" type="body"/>
          </p:nvPr>
        </p:nvSpPr>
        <p:spPr>
          <a:xfrm>
            <a:off x="3446463" y="4115342"/>
            <a:ext cx="5164137" cy="365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1" sz="18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3 Items">
  <p:cSld name="Title and Content with 3 Items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71" name="Google Shape;7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1963267" y="4567184"/>
            <a:ext cx="2547586" cy="459051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73" name="Google Shape;73;p9"/>
          <p:cNvSpPr/>
          <p:nvPr/>
        </p:nvSpPr>
        <p:spPr>
          <a:xfrm>
            <a:off x="1963268" y="1842995"/>
            <a:ext cx="2547585" cy="2496148"/>
          </a:xfrm>
          <a:prstGeom prst="rect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74" name="Google Shape;74;p9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75" name="Google Shape;75;p9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6" name="Google Shape;76;p9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9"/>
          <p:cNvSpPr/>
          <p:nvPr>
            <p:ph idx="2" type="pic"/>
          </p:nvPr>
        </p:nvSpPr>
        <p:spPr>
          <a:xfrm>
            <a:off x="2140274" y="2006841"/>
            <a:ext cx="2237481" cy="2227779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9"/>
          <p:cNvSpPr txBox="1"/>
          <p:nvPr>
            <p:ph idx="1" type="body"/>
          </p:nvPr>
        </p:nvSpPr>
        <p:spPr>
          <a:xfrm>
            <a:off x="2120889" y="4567184"/>
            <a:ext cx="2232341" cy="4590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79" name="Google Shape;79;p9"/>
          <p:cNvSpPr/>
          <p:nvPr/>
        </p:nvSpPr>
        <p:spPr>
          <a:xfrm>
            <a:off x="4800252" y="4567184"/>
            <a:ext cx="2547586" cy="459051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0" name="Google Shape;80;p9"/>
          <p:cNvSpPr/>
          <p:nvPr/>
        </p:nvSpPr>
        <p:spPr>
          <a:xfrm>
            <a:off x="4800253" y="1842995"/>
            <a:ext cx="2547585" cy="2496148"/>
          </a:xfrm>
          <a:prstGeom prst="rect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1" name="Google Shape;81;p9"/>
          <p:cNvSpPr/>
          <p:nvPr>
            <p:ph idx="3" type="pic"/>
          </p:nvPr>
        </p:nvSpPr>
        <p:spPr>
          <a:xfrm>
            <a:off x="4977259" y="2006841"/>
            <a:ext cx="2237481" cy="2227779"/>
          </a:xfrm>
          <a:prstGeom prst="rect">
            <a:avLst/>
          </a:prstGeom>
          <a:noFill/>
          <a:ln>
            <a:noFill/>
          </a:ln>
        </p:spPr>
      </p:sp>
      <p:sp>
        <p:nvSpPr>
          <p:cNvPr id="82" name="Google Shape;82;p9"/>
          <p:cNvSpPr txBox="1"/>
          <p:nvPr>
            <p:ph idx="4" type="body"/>
          </p:nvPr>
        </p:nvSpPr>
        <p:spPr>
          <a:xfrm>
            <a:off x="4957874" y="4567184"/>
            <a:ext cx="2232341" cy="4590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3" name="Google Shape;83;p9"/>
          <p:cNvSpPr/>
          <p:nvPr/>
        </p:nvSpPr>
        <p:spPr>
          <a:xfrm>
            <a:off x="7637237" y="4567184"/>
            <a:ext cx="2547586" cy="459051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4" name="Google Shape;84;p9"/>
          <p:cNvSpPr/>
          <p:nvPr/>
        </p:nvSpPr>
        <p:spPr>
          <a:xfrm>
            <a:off x="7637238" y="1842995"/>
            <a:ext cx="2547585" cy="2496148"/>
          </a:xfrm>
          <a:prstGeom prst="rect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5" name="Google Shape;85;p9"/>
          <p:cNvSpPr/>
          <p:nvPr>
            <p:ph idx="5" type="pic"/>
          </p:nvPr>
        </p:nvSpPr>
        <p:spPr>
          <a:xfrm>
            <a:off x="7814244" y="2006841"/>
            <a:ext cx="2237481" cy="2227779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9"/>
          <p:cNvSpPr txBox="1"/>
          <p:nvPr>
            <p:ph idx="6" type="body"/>
          </p:nvPr>
        </p:nvSpPr>
        <p:spPr>
          <a:xfrm>
            <a:off x="7794859" y="4567184"/>
            <a:ext cx="2232341" cy="4590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7" name="Google Shape;87;p9"/>
          <p:cNvSpPr txBox="1"/>
          <p:nvPr>
            <p:ph idx="7" type="body"/>
          </p:nvPr>
        </p:nvSpPr>
        <p:spPr>
          <a:xfrm>
            <a:off x="1963266" y="5269307"/>
            <a:ext cx="2547585" cy="930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9"/>
          <p:cNvSpPr txBox="1"/>
          <p:nvPr>
            <p:ph idx="8" type="body"/>
          </p:nvPr>
        </p:nvSpPr>
        <p:spPr>
          <a:xfrm>
            <a:off x="4800250" y="5257584"/>
            <a:ext cx="2547585" cy="930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9"/>
          <p:cNvSpPr txBox="1"/>
          <p:nvPr>
            <p:ph idx="9" type="body"/>
          </p:nvPr>
        </p:nvSpPr>
        <p:spPr>
          <a:xfrm>
            <a:off x="7637234" y="5269307"/>
            <a:ext cx="2547585" cy="930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93" name="Google Shape;9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with Image">
  <p:cSld name="1_Title with Image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statue of a person with her arms out&#10;&#10;Description automatically generated" id="95" name="Google Shape;95;p11"/>
          <p:cNvPicPr preferRelativeResize="0"/>
          <p:nvPr/>
        </p:nvPicPr>
        <p:blipFill rotWithShape="1">
          <a:blip r:embed="rId2">
            <a:alphaModFix/>
          </a:blip>
          <a:srcRect b="0" l="-50" r="0" t="0"/>
          <a:stretch/>
        </p:blipFill>
        <p:spPr>
          <a:xfrm>
            <a:off x="353952" y="3429000"/>
            <a:ext cx="11472522" cy="292734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niversity of Illinois' primary word mark in blue and orange. " id="96" name="Google Shape;9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2092" y="965232"/>
            <a:ext cx="5047816" cy="867671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sz="12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8" name="Google Shape;98;p11"/>
          <p:cNvSpPr/>
          <p:nvPr/>
        </p:nvSpPr>
        <p:spPr>
          <a:xfrm>
            <a:off x="359738" y="2340717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99" name="Google Shape;99;p11"/>
          <p:cNvCxnSpPr/>
          <p:nvPr/>
        </p:nvCxnSpPr>
        <p:spPr>
          <a:xfrm>
            <a:off x="359738" y="3263885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0" name="Google Shape;100;p11"/>
          <p:cNvSpPr txBox="1"/>
          <p:nvPr>
            <p:ph type="title"/>
          </p:nvPr>
        </p:nvSpPr>
        <p:spPr>
          <a:xfrm>
            <a:off x="808717" y="2427019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 Black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01" name="Google Shape;101;p11"/>
          <p:cNvCxnSpPr/>
          <p:nvPr/>
        </p:nvCxnSpPr>
        <p:spPr>
          <a:xfrm>
            <a:off x="359738" y="456517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2" name="Google Shape;102;p11"/>
          <p:cNvSpPr txBox="1"/>
          <p:nvPr>
            <p:ph idx="1" type="subTitle"/>
          </p:nvPr>
        </p:nvSpPr>
        <p:spPr>
          <a:xfrm>
            <a:off x="1524000" y="3602038"/>
            <a:ext cx="9144000" cy="365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highlight>
                  <a:srgbClr val="FF5F03"/>
                </a:highlight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Image">
  <p:cSld name="Title and Content with Imag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blue." id="105" name="Google Shape;105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39852" y="5998310"/>
            <a:ext cx="421892" cy="609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2"/>
          <p:cNvSpPr/>
          <p:nvPr/>
        </p:nvSpPr>
        <p:spPr>
          <a:xfrm>
            <a:off x="838200" y="1955165"/>
            <a:ext cx="3129416" cy="459051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07" name="Google Shape;107;p12"/>
          <p:cNvSpPr/>
          <p:nvPr/>
        </p:nvSpPr>
        <p:spPr>
          <a:xfrm>
            <a:off x="856874" y="2591819"/>
            <a:ext cx="3110742" cy="3047934"/>
          </a:xfrm>
          <a:prstGeom prst="rect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08" name="Google Shape;108;p12"/>
          <p:cNvSpPr txBox="1"/>
          <p:nvPr>
            <p:ph idx="1" type="body"/>
          </p:nvPr>
        </p:nvSpPr>
        <p:spPr>
          <a:xfrm>
            <a:off x="4249845" y="1955165"/>
            <a:ext cx="708528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2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10" name="Google Shape;110;p12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1" name="Google Shape;111;p12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2"/>
          <p:cNvSpPr/>
          <p:nvPr>
            <p:ph idx="2" type="pic"/>
          </p:nvPr>
        </p:nvSpPr>
        <p:spPr>
          <a:xfrm>
            <a:off x="1033880" y="2755665"/>
            <a:ext cx="2732088" cy="2720241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12"/>
          <p:cNvSpPr txBox="1"/>
          <p:nvPr>
            <p:ph idx="3" type="body"/>
          </p:nvPr>
        </p:nvSpPr>
        <p:spPr>
          <a:xfrm>
            <a:off x="838201" y="1955163"/>
            <a:ext cx="2927768" cy="4590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Image - Blue">
  <p:cSld name="Title with Image - Blue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0" name="Google Shape;120;p14"/>
          <p:cNvSpPr/>
          <p:nvPr/>
        </p:nvSpPr>
        <p:spPr>
          <a:xfrm>
            <a:off x="359738" y="2340717"/>
            <a:ext cx="11472523" cy="771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21" name="Google Shape;121;p14"/>
          <p:cNvCxnSpPr/>
          <p:nvPr/>
        </p:nvCxnSpPr>
        <p:spPr>
          <a:xfrm>
            <a:off x="359738" y="3263885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2" name="Google Shape;122;p14"/>
          <p:cNvSpPr txBox="1"/>
          <p:nvPr>
            <p:ph type="title"/>
          </p:nvPr>
        </p:nvSpPr>
        <p:spPr>
          <a:xfrm>
            <a:off x="808717" y="2427019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3600"/>
              <a:buFont typeface="Arial Black"/>
              <a:buNone/>
              <a:defRPr sz="3600"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23" name="Google Shape;123;p14"/>
          <p:cNvCxnSpPr/>
          <p:nvPr/>
        </p:nvCxnSpPr>
        <p:spPr>
          <a:xfrm>
            <a:off x="359738" y="456517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descr="University of Illinois Bell Tower in blue and white." id="124" name="Google Shape;124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65527" y="3429000"/>
            <a:ext cx="11466734" cy="2940994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4"/>
          <p:cNvSpPr txBox="1"/>
          <p:nvPr>
            <p:ph idx="1" type="subTitle"/>
          </p:nvPr>
        </p:nvSpPr>
        <p:spPr>
          <a:xfrm>
            <a:off x="1524000" y="3602038"/>
            <a:ext cx="9144000" cy="365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2284B"/>
              </a:buClr>
              <a:buSzPts val="2400"/>
              <a:buNone/>
              <a:defRPr b="0" i="0" sz="2400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University of Illinois primary word mark in orange and white." id="126" name="Google Shape;12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2103" y="963483"/>
            <a:ext cx="5047792" cy="867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No Image - Blue">
  <p:cSld name="Title No Image - Blu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359738" y="3155726"/>
            <a:ext cx="11472523" cy="771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30" name="Google Shape;130;p15"/>
          <p:cNvCxnSpPr/>
          <p:nvPr/>
        </p:nvCxnSpPr>
        <p:spPr>
          <a:xfrm>
            <a:off x="359738" y="4078894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1" name="Google Shape;131;p15"/>
          <p:cNvSpPr txBox="1"/>
          <p:nvPr>
            <p:ph type="title"/>
          </p:nvPr>
        </p:nvSpPr>
        <p:spPr>
          <a:xfrm>
            <a:off x="808717" y="3242028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3600"/>
              <a:buFont typeface="Arial Black"/>
              <a:buNone/>
              <a:defRPr sz="3600"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5"/>
          <p:cNvSpPr txBox="1"/>
          <p:nvPr>
            <p:ph idx="1" type="subTitle"/>
          </p:nvPr>
        </p:nvSpPr>
        <p:spPr>
          <a:xfrm>
            <a:off x="1524000" y="4417047"/>
            <a:ext cx="9144000" cy="365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i="0" sz="2400"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University of Illinois primary word mark in orange and white." id="133" name="Google Shape;133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72103" y="1801439"/>
            <a:ext cx="5047792" cy="867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">
  <p:cSld name="Section Divi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/>
          <p:nvPr/>
        </p:nvSpPr>
        <p:spPr>
          <a:xfrm>
            <a:off x="0" y="6222670"/>
            <a:ext cx="12192000" cy="63533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6" name="Google Shape;13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38" name="Google Shape;138;p16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9" name="Google Shape;139;p16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white letter on a black background&#10;&#10;Description automatically generated" id="140" name="Google Shape;14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60173"/>
            <a:ext cx="2101933" cy="3613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Section Divider">
  <p:cSld name="2_Section Divi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/>
          <p:nvPr/>
        </p:nvSpPr>
        <p:spPr>
          <a:xfrm>
            <a:off x="0" y="6222670"/>
            <a:ext cx="12192000" cy="63533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3" name="Google Shape;14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45" name="Google Shape;145;p17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6" name="Google Shape;146;p17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white letter on a black background&#10;&#10;Description automatically generated" id="147" name="Google Shape;14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60173"/>
            <a:ext cx="2101933" cy="3613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 with Image - Blue">
  <p:cSld name="Overview with Image - Blue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359739" y="356535"/>
            <a:ext cx="5736262" cy="771700"/>
          </a:xfrm>
          <a:prstGeom prst="rect">
            <a:avLst/>
          </a:prstGeom>
          <a:solidFill>
            <a:srgbClr val="12284B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51" name="Google Shape;151;p18"/>
          <p:cNvCxnSpPr/>
          <p:nvPr/>
        </p:nvCxnSpPr>
        <p:spPr>
          <a:xfrm>
            <a:off x="359738" y="1343417"/>
            <a:ext cx="5736262" cy="0"/>
          </a:xfrm>
          <a:prstGeom prst="straightConnector1">
            <a:avLst/>
          </a:prstGeom>
          <a:noFill/>
          <a:ln cap="flat" cmpd="sng" w="38100">
            <a:solidFill>
              <a:srgbClr val="12284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2" name="Google Shape;152;p18"/>
          <p:cNvSpPr txBox="1"/>
          <p:nvPr>
            <p:ph type="title"/>
          </p:nvPr>
        </p:nvSpPr>
        <p:spPr>
          <a:xfrm>
            <a:off x="359738" y="445905"/>
            <a:ext cx="5736262" cy="599096"/>
          </a:xfrm>
          <a:prstGeom prst="rect">
            <a:avLst/>
          </a:prstGeom>
          <a:solidFill>
            <a:srgbClr val="FF5F03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18"/>
          <p:cNvSpPr txBox="1"/>
          <p:nvPr>
            <p:ph idx="1" type="body"/>
          </p:nvPr>
        </p:nvSpPr>
        <p:spPr>
          <a:xfrm>
            <a:off x="359738" y="1646972"/>
            <a:ext cx="5736262" cy="4245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800"/>
              <a:buFont typeface="Georgia"/>
              <a:buAutoNum type="arabicPeriod"/>
              <a:defRPr b="1" i="0">
                <a:latin typeface="Georgia"/>
                <a:ea typeface="Georgia"/>
                <a:cs typeface="Georgia"/>
                <a:sym typeface="Georgia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Georgia"/>
              <a:buAutoNum type="arabicPeriod"/>
              <a:defRPr/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Georgia"/>
              <a:buAutoNum type="arabicPeriod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eorgia"/>
              <a:buAutoNum type="arabicPeriod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eorgia"/>
              <a:buAutoNum type="arabicPeriod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University of Illinois logo in orange and white." id="154" name="Google Shape;154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15604" y="5998310"/>
            <a:ext cx="416657" cy="601839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8"/>
          <p:cNvSpPr/>
          <p:nvPr>
            <p:ph idx="2" type="pic"/>
          </p:nvPr>
        </p:nvSpPr>
        <p:spPr>
          <a:xfrm>
            <a:off x="6315698" y="445905"/>
            <a:ext cx="5516563" cy="5446387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Blue">
  <p:cSld name="Title and Content - Blue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9" name="Google Shape;159;p19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60" name="Google Shape;160;p19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1" name="Google Shape;161;p19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4400"/>
              <a:buFont typeface="Arial Black"/>
              <a:buNone/>
              <a:defRPr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University of Illinois logo in orange and white." id="162" name="Google Shape;16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15604" y="5998310"/>
            <a:ext cx="416657" cy="6018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2 Columns - Blue">
  <p:cSld name="Title and Content 2 Columns - Blue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0"/>
          <p:cNvSpPr txBox="1"/>
          <p:nvPr>
            <p:ph idx="1" type="body"/>
          </p:nvPr>
        </p:nvSpPr>
        <p:spPr>
          <a:xfrm>
            <a:off x="839788" y="1681163"/>
            <a:ext cx="5157787" cy="4993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400"/>
              <a:buNone/>
              <a:defRPr b="0" i="1" sz="2400">
                <a:solidFill>
                  <a:srgbClr val="FF5F0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65" name="Google Shape;165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▪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▪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▪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20"/>
          <p:cNvSpPr txBox="1"/>
          <p:nvPr>
            <p:ph idx="3" type="body"/>
          </p:nvPr>
        </p:nvSpPr>
        <p:spPr>
          <a:xfrm>
            <a:off x="6172200" y="1681163"/>
            <a:ext cx="5183188" cy="4993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5F03"/>
              </a:buClr>
              <a:buSzPts val="2400"/>
              <a:buNone/>
              <a:defRPr b="0" i="1" sz="2400">
                <a:solidFill>
                  <a:srgbClr val="FF5F03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67" name="Google Shape;167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▪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▪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▪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9" name="Google Shape;169;p20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70" name="Google Shape;170;p20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1" name="Google Shape;171;p20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4400"/>
              <a:buFont typeface="Arial Black"/>
              <a:buNone/>
              <a:defRPr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University of Illinois logo in orange and white." id="172" name="Google Shape;17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15604" y="5998310"/>
            <a:ext cx="416657" cy="6018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estions - Blue">
  <p:cSld name="Questions - Blue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5" name="Google Shape;175;p21"/>
          <p:cNvCxnSpPr/>
          <p:nvPr/>
        </p:nvCxnSpPr>
        <p:spPr>
          <a:xfrm>
            <a:off x="389220" y="520244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76" name="Google Shape;176;p21"/>
          <p:cNvCxnSpPr/>
          <p:nvPr/>
        </p:nvCxnSpPr>
        <p:spPr>
          <a:xfrm>
            <a:off x="389221" y="6356350"/>
            <a:ext cx="1043861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descr="University of Illinois logo in orange and white." id="177" name="Google Shape;177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15604" y="5998310"/>
            <a:ext cx="416657" cy="60183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1"/>
          <p:cNvSpPr txBox="1"/>
          <p:nvPr>
            <p:ph type="title"/>
          </p:nvPr>
        </p:nvSpPr>
        <p:spPr>
          <a:xfrm>
            <a:off x="838200" y="259649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Image - Blue">
  <p:cSld name="Title and Content with Image - Blue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1" name="Google Shape;181;p22"/>
          <p:cNvSpPr/>
          <p:nvPr/>
        </p:nvSpPr>
        <p:spPr>
          <a:xfrm>
            <a:off x="838200" y="1955165"/>
            <a:ext cx="3129416" cy="459051"/>
          </a:xfrm>
          <a:prstGeom prst="rect">
            <a:avLst/>
          </a:prstGeom>
          <a:solidFill>
            <a:srgbClr val="FF5F03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856874" y="2591819"/>
            <a:ext cx="3110742" cy="3047934"/>
          </a:xfrm>
          <a:prstGeom prst="rect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83" name="Google Shape;183;p22"/>
          <p:cNvSpPr txBox="1"/>
          <p:nvPr>
            <p:ph idx="1" type="body"/>
          </p:nvPr>
        </p:nvSpPr>
        <p:spPr>
          <a:xfrm>
            <a:off x="4249845" y="1955165"/>
            <a:ext cx="708528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22"/>
          <p:cNvSpPr/>
          <p:nvPr/>
        </p:nvSpPr>
        <p:spPr>
          <a:xfrm>
            <a:off x="389221" y="578382"/>
            <a:ext cx="11472523" cy="771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85" name="Google Shape;185;p22"/>
          <p:cNvCxnSpPr/>
          <p:nvPr/>
        </p:nvCxnSpPr>
        <p:spPr>
          <a:xfrm>
            <a:off x="389221" y="1501550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6" name="Google Shape;186;p22"/>
          <p:cNvSpPr txBox="1"/>
          <p:nvPr>
            <p:ph type="title"/>
          </p:nvPr>
        </p:nvSpPr>
        <p:spPr>
          <a:xfrm>
            <a:off x="838200" y="664684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4400"/>
              <a:buFont typeface="Arial Black"/>
              <a:buNone/>
              <a:defRPr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22"/>
          <p:cNvSpPr/>
          <p:nvPr>
            <p:ph idx="2" type="pic"/>
          </p:nvPr>
        </p:nvSpPr>
        <p:spPr>
          <a:xfrm>
            <a:off x="1033880" y="2755665"/>
            <a:ext cx="2732088" cy="2720241"/>
          </a:xfrm>
          <a:prstGeom prst="rect">
            <a:avLst/>
          </a:prstGeom>
          <a:noFill/>
          <a:ln>
            <a:noFill/>
          </a:ln>
        </p:spPr>
      </p:sp>
      <p:sp>
        <p:nvSpPr>
          <p:cNvPr id="188" name="Google Shape;188;p22"/>
          <p:cNvSpPr txBox="1"/>
          <p:nvPr>
            <p:ph idx="3" type="body"/>
          </p:nvPr>
        </p:nvSpPr>
        <p:spPr>
          <a:xfrm>
            <a:off x="838201" y="1955163"/>
            <a:ext cx="2927768" cy="4590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pic>
        <p:nvPicPr>
          <p:cNvPr descr="University of Illinois logo in orange and white." id="189" name="Google Shape;189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15604" y="5998310"/>
            <a:ext cx="416657" cy="6018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Blue" type="titleOnly">
  <p:cSld name="TITLE_ONLY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University of Illinois logo in orange and white." id="193" name="Google Shape;19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15604" y="5998310"/>
            <a:ext cx="416657" cy="6018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with Image - Blue">
  <p:cSld name="1_Title with Image - Blue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group of people walking on a sidewalk&#10;&#10;Description automatically generated" id="195" name="Google Shape;19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9738" y="3429001"/>
            <a:ext cx="11509954" cy="2927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24"/>
          <p:cNvSpPr/>
          <p:nvPr/>
        </p:nvSpPr>
        <p:spPr>
          <a:xfrm>
            <a:off x="359738" y="2340717"/>
            <a:ext cx="11472523" cy="771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102F5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198" name="Google Shape;198;p24"/>
          <p:cNvCxnSpPr/>
          <p:nvPr/>
        </p:nvCxnSpPr>
        <p:spPr>
          <a:xfrm>
            <a:off x="359738" y="3263885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9" name="Google Shape;199;p24"/>
          <p:cNvSpPr txBox="1"/>
          <p:nvPr>
            <p:ph type="title"/>
          </p:nvPr>
        </p:nvSpPr>
        <p:spPr>
          <a:xfrm>
            <a:off x="808717" y="2427019"/>
            <a:ext cx="10515600" cy="599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3600"/>
              <a:buFont typeface="Arial Black"/>
              <a:buNone/>
              <a:defRPr sz="3600">
                <a:solidFill>
                  <a:srgbClr val="12284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00" name="Google Shape;200;p24"/>
          <p:cNvCxnSpPr/>
          <p:nvPr/>
        </p:nvCxnSpPr>
        <p:spPr>
          <a:xfrm>
            <a:off x="359738" y="456517"/>
            <a:ext cx="11472523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1" name="Google Shape;201;p24"/>
          <p:cNvSpPr txBox="1"/>
          <p:nvPr>
            <p:ph idx="1" type="subTitle"/>
          </p:nvPr>
        </p:nvSpPr>
        <p:spPr>
          <a:xfrm>
            <a:off x="1524000" y="3602038"/>
            <a:ext cx="9144000" cy="365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i="0" sz="2400">
                <a:solidFill>
                  <a:schemeClr val="lt1"/>
                </a:solidFill>
                <a:highlight>
                  <a:srgbClr val="12284B"/>
                </a:highlight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University of Illinois primary word mark in orange and white." id="202" name="Google Shape;20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2103" y="963483"/>
            <a:ext cx="5047792" cy="867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284B"/>
              </a:buClr>
              <a:buSzPts val="4400"/>
              <a:buFont typeface="Arial Black"/>
              <a:buNone/>
              <a:defRPr b="1" i="0" sz="4400" u="none" cap="none" strike="noStrike">
                <a:solidFill>
                  <a:srgbClr val="12284B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12284B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 Black"/>
              <a:buNone/>
              <a:defRPr b="1" i="0" sz="4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6" name="Google Shape;116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/>
        </p:txBody>
      </p:sp>
      <p:sp>
        <p:nvSpPr>
          <p:cNvPr id="117" name="Google Shape;11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2148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969" cy="8229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Pilot results: what we 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E6EAF2"/>
                </a:solidFill>
              </a:rPr>
              <a:t>What we ran, what came back, and what it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3294B"/>
                </a:solidFill>
              </a:rPr>
              <a:t>Progress since the proposal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05050"/>
                </a:solidFill>
              </a:rPr>
              <a:t>Group 6 · CS 598 HCI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05050"/>
                </a:solidFill>
              </a:rPr>
              <a:t>Devansh Agrawal · Zhongyin Wang · Sahil Sashi · Mathew Pan · Xuejun Zhang · Zoey Yao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What we actually built and ran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7160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548"/>
                <a:gridCol w="5527548"/>
              </a:tblGrid>
              <a:tr h="5225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Artifact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Scale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Question set with verified answers + plausible wrong alternative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60 items: 30 math (answers recomputed from expressions, 0 failures), 30 factual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Pushback stimuli, both directions, four forms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480 texts = 60 questions × 2 directions × (3 reconstructed + scripted)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RQ2 trials (no intervention)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960 = 2 models × 4 forms × 2 directions × 60 questions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RQ3 trials (4 conditions)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1,440 = 4 conditions × 3 forms × 2 directions × 60 questions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Multi-turn escalation arm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240 conversations × 3 escalating pushback rounds = 720 replies</a:t>
                      </a:r>
                    </a:p>
                  </a:txBody>
                  <a:tcPr marL="54864" marR="54864"/>
                </a:tc>
              </a:tr>
              <a:tr h="5225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Total across all runs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~9,600 model calls, ~$1.00; the main pilot alone was 4,421 calls / $0.48 in 8 minutes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5806440"/>
            <a:ext cx="110550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4A27"/>
                </a:solidFill>
              </a:rPr>
              <a:t>Fully resumable: every trial is appended to a JSONL log, so an interrupted run continues where it stopped.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RQ2: how the two models respond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7160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2211019"/>
                <a:gridCol w="2211019"/>
                <a:gridCol w="2211019"/>
                <a:gridCol w="2211020"/>
              </a:tblGrid>
              <a:tr h="40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Pushback form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Cave \| user wrong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Accept \| user right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flash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factual_correction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1.7%  [0, 9]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+95.0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flash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clarification_demand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5.0%  [2, 14]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95.0%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+90.0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flash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emotional_pushback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5.0%  [2, 14]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+93.3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flash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scripted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3.3%  [1, 11]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96.7%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+91.7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pro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factual_correction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1.7%  [0, 9]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+95.0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pro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clarification_demand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1.7%  [0, 9]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+95.0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pro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emotional_pushback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5.0%  [2, 14]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95.0%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+90.0</a:t>
                      </a:r>
                    </a:p>
                  </a:txBody>
                  <a:tcPr marL="54864" marR="54864"/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pro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scripted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1.7%  [0, 9]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+93.3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4846320"/>
            <a:ext cx="110550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600"/>
              </a:spcAft>
              <a:buChar char="•"/>
            </a:pPr>
            <a:r>
              <a:rPr sz="1300" b="0">
                <a:solidFill>
                  <a:srgbClr val="222222"/>
                </a:solidFill>
              </a:rPr>
              <a:t>n = 120 per cell. J = P(hold | user wrong) + P(accept | user right) − 1; 0 is chance.</a:t>
            </a:r>
          </a:p>
          <a:p>
            <a:pPr marL="237744" indent="-237744">
              <a:spcAft>
                <a:spcPts val="600"/>
              </a:spcAft>
              <a:buChar char="•"/>
            </a:pPr>
            <a:r>
              <a:rPr sz="1300" b="0">
                <a:solidFill>
                  <a:srgbClr val="222222"/>
                </a:solidFill>
              </a:rPr>
              <a:t>Caving is rare in this design, and accepting a valid correction is near ceiling.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Two things the pilot already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25880"/>
            <a:ext cx="110550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1100"/>
              </a:spcAft>
              <a:buChar char="•"/>
            </a:pPr>
            <a:r>
              <a:rPr sz="1500" b="1">
                <a:solidFill>
                  <a:srgbClr val="222222"/>
                </a:solidFill>
              </a:rPr>
              <a:t>Task type dominates pushback form.</a:t>
            </a:r>
          </a:p>
          <a:p>
            <a:pPr lvl="1" marL="512064" indent="-201168">
              <a:spcAft>
                <a:spcPts val="1100"/>
              </a:spcAft>
              <a:buChar char="–"/>
            </a:pPr>
            <a:r>
              <a:rPr sz="1400" b="0">
                <a:solidFill>
                  <a:srgbClr val="222222"/>
                </a:solidFill>
              </a:rPr>
              <a:t>Every caving event came from factual-knowledge items. Arithmetic the model can verify by computation was immune: 0.0% caving for both models on math, 7.8% and 5.6% on facts.</a:t>
            </a:r>
          </a:p>
          <a:p>
            <a:pPr marL="237744" indent="-237744">
              <a:spcAft>
                <a:spcPts val="1100"/>
              </a:spcAft>
              <a:buChar char="•"/>
            </a:pPr>
            <a:r>
              <a:rPr sz="1500" b="1">
                <a:solidFill>
                  <a:srgbClr val="222222"/>
                </a:solidFill>
              </a:rPr>
              <a:t>Scripted pushback did not misestimate caving.</a:t>
            </a:r>
          </a:p>
          <a:p>
            <a:pPr lvl="1" marL="512064" indent="-201168">
              <a:spcAft>
                <a:spcPts val="1100"/>
              </a:spcAft>
              <a:buChar char="–"/>
            </a:pPr>
            <a:r>
              <a:rPr sz="1400" b="0">
                <a:solidFill>
                  <a:srgbClr val="222222"/>
                </a:solidFill>
              </a:rPr>
              <a:t>Reconstructed vs scripted, paired over questions: flash −1.7 pp [−6, 3], pro −0.8 pp [−3, 2]. Both intervals span zero. Our original motivating gap — “scripted pushback hides the real problem” — is not reproduced here.</a:t>
            </a:r>
          </a:p>
          <a:p>
            <a:pPr marL="237744" indent="-237744">
              <a:spcAft>
                <a:spcPts val="1100"/>
              </a:spcAft>
              <a:buChar char="•"/>
            </a:pPr>
            <a:r>
              <a:rPr sz="1500" b="1">
                <a:solidFill>
                  <a:srgbClr val="222222"/>
                </a:solidFill>
              </a:rPr>
              <a:t>What that means for the framing.</a:t>
            </a:r>
          </a:p>
          <a:p>
            <a:pPr lvl="1" marL="512064" indent="-201168">
              <a:spcAft>
                <a:spcPts val="1100"/>
              </a:spcAft>
              <a:buChar char="–"/>
            </a:pPr>
            <a:r>
              <a:rPr sz="1400" b="0">
                <a:solidFill>
                  <a:srgbClr val="222222"/>
                </a:solidFill>
              </a:rPr>
              <a:t>The difference between lab and real pushback may be about context and history, not about wording. That is a sharper and more useful question than the one we proposed.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RQ3: does type-aware guidance add anything?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7160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3774"/>
                <a:gridCol w="2763774"/>
                <a:gridCol w="2763774"/>
                <a:gridCol w="2763774"/>
              </a:tblGrid>
              <a:tr h="731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Condition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Cave \| user wrong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Accept \| user right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none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3.9%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97.2%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+92.8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reframe (published fix)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8.9%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93.3%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+82.8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verify_only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2.2%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96.7%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+94.4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verify_type (ours)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1.7%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97.8%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+95.6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3383280"/>
            <a:ext cx="1105509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900"/>
              </a:spcAft>
              <a:buChar char="•"/>
            </a:pPr>
            <a:r>
              <a:rPr sz="1400" b="1">
                <a:solidFill>
                  <a:srgbClr val="222222"/>
                </a:solidFill>
              </a:rPr>
              <a:t>Pre-registered contrast, verify_type vs verify_only:</a:t>
            </a:r>
          </a:p>
          <a:p>
            <a:pPr lvl="1" marL="512064" indent="-201168">
              <a:spcAft>
                <a:spcPts val="900"/>
              </a:spcAft>
              <a:buChar char="–"/>
            </a:pPr>
            <a:r>
              <a:rPr sz="1300" b="0">
                <a:solidFill>
                  <a:srgbClr val="222222"/>
                </a:solidFill>
              </a:rPr>
              <a:t>cave −0.8 pp [−2, 1], good outcome +0.6 pp [−1, 2]. Null. We can rule out a gain larger than about 2 pp — and with caving already at 2%, there was little room.</a:t>
            </a:r>
          </a:p>
          <a:p>
            <a:pPr marL="237744" indent="-237744">
              <a:spcAft>
                <a:spcPts val="900"/>
              </a:spcAft>
              <a:buChar char="•"/>
            </a:pPr>
            <a:r>
              <a:rPr sz="1400" b="1">
                <a:solidFill>
                  <a:srgbClr val="222222"/>
                </a:solidFill>
              </a:rPr>
              <a:t>The unexpected result: question reframing made things worse.</a:t>
            </a:r>
          </a:p>
          <a:p>
            <a:pPr lvl="1" marL="512064" indent="-201168">
              <a:spcAft>
                <a:spcPts val="900"/>
              </a:spcAft>
              <a:buChar char="–"/>
            </a:pPr>
            <a:r>
              <a:rPr sz="1300" b="0">
                <a:solidFill>
                  <a:srgbClr val="222222"/>
                </a:solidFill>
              </a:rPr>
              <a:t>+3.9 pp caving [1, 7], good outcome −5.0 pp [−8, −2]. Mechanism is visible in the transcripts: the model restates the user's wrong claim as a question and then answers from that premise. Contradicts the published benefit in a setting closer to real 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Does caving accumulate? No.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46304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2211019"/>
                <a:gridCol w="2211019"/>
                <a:gridCol w="2211019"/>
                <a:gridCol w="2211020"/>
              </a:tblGrid>
              <a:tr h="121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After push 1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After push 2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After push 3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Accept after 3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flash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1.7%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1.7%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3.3%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pro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3.3%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3.3%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3.3%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98.3%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3017520"/>
            <a:ext cx="1105509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1000"/>
              </a:spcAft>
              <a:buChar char="•"/>
            </a:pPr>
            <a:r>
              <a:rPr sz="1450" b="0">
                <a:solidFill>
                  <a:srgbClr val="222222"/>
                </a:solidFill>
              </a:rPr>
              <a:t>240 conversations, three escalating pushbacks each, claim held constant (counter-assertion → basis challenge → frustration).</a:t>
            </a:r>
          </a:p>
          <a:p>
            <a:pPr marL="237744" indent="-237744">
              <a:spcAft>
                <a:spcPts val="1000"/>
              </a:spcAft>
              <a:buChar char="•"/>
            </a:pPr>
            <a:r>
              <a:rPr sz="1450" b="0">
                <a:solidFill>
                  <a:srgbClr val="222222"/>
                </a:solidFill>
              </a:rPr>
              <a:t>The curve is flat. Repeated pressure does not produce caving on short verifiable answers, which rules out “one turn is too weak” as the explanation for the floor.</a:t>
            </a:r>
          </a:p>
          <a:p>
            <a:pPr marL="237744" indent="-237744">
              <a:spcAft>
                <a:spcPts val="1000"/>
              </a:spcAft>
              <a:buChar char="•"/>
            </a:pPr>
            <a:r>
              <a:rPr sz="1450" b="0">
                <a:solidFill>
                  <a:srgbClr val="222222"/>
                </a:solidFill>
              </a:rPr>
              <a:t>What is left: supplying the initial answer as history anchors the model, and the items are unambiguous, so there is a strongly represented correct answer to fall back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50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4A27"/>
                </a:solidFill>
              </a:rPr>
              <a:t>Caving here is a design artifact, not a model property. Next iteration changes the design, not the sample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Can we trust the numbers? Instrument checks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7160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3685032"/>
                <a:gridCol w="3685032"/>
              </a:tblGrid>
              <a:tr h="731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Instrument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Consequence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Verification call vs answer key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99.6% (717/720)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the verification component works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Answer-state detector vs extractor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91.7% (110/120)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109 labels were re-derived; extractor label used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Classifier on our stimuli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trivial — the stimuli came from templates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Classifier on real pushback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55.9% (33/59)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clarification recall only 35%: type-aware arm rests on a weak detector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5806440"/>
            <a:ext cx="110550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4A27"/>
                </a:solidFill>
              </a:rPr>
              <a:t>The uncomfortable one is the last row. Any claim about type-awareness has to carry that caveat.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Phase 1: the lexical filter we proposed recovers 2% of pushback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7160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3685032"/>
                <a:gridCol w="3685032"/>
              </a:tblGrid>
              <a:tr h="731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Quantity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Estimate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Precision (candidates that are genuine pushback)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58.0%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[50.0, 65.6]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Recall (genuine pushback the filter retrieves)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2.0%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[0.7, 5.7]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Candidate yield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4.2 per 1,000 English pairs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Implied prevalence of genuine pushback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~12.2% of pairs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3246120"/>
            <a:ext cx="11055096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800"/>
              </a:spcAft>
              <a:buChar char="•"/>
            </a:pPr>
            <a:r>
              <a:rPr sz="1350" b="0">
                <a:solidFill>
                  <a:srgbClr val="222222"/>
                </a:solidFill>
              </a:rPr>
              <a:t>Measured on 60,000 conversations (34,800 English, 37,857 usable assistant→user pairs).</a:t>
            </a:r>
          </a:p>
          <a:p>
            <a:pPr marL="237744" indent="-237744">
              <a:spcAft>
                <a:spcPts val="800"/>
              </a:spcAft>
              <a:buChar char="•"/>
            </a:pPr>
            <a:r>
              <a:rPr sz="1350" b="0">
                <a:solidFill>
                  <a:srgbClr val="222222"/>
                </a:solidFill>
              </a:rPr>
              <a:t>Pushback is common but lexically invisible: about one pair in eight is a genuine challenge, and the cue suite finds one in fifty.</a:t>
            </a:r>
          </a:p>
          <a:p>
            <a:pPr marL="237744" indent="-237744">
              <a:spcAft>
                <a:spcPts val="800"/>
              </a:spcAft>
              <a:buChar char="•"/>
            </a:pPr>
            <a:r>
              <a:rPr sz="1350" b="0">
                <a:solidFill>
                  <a:srgbClr val="222222"/>
                </a:solidFill>
              </a:rPr>
              <a:t>Our earlier 20.7% figure was recall measured inside a set already known to be pushback — an optimistic ceiling. Against the open corpus the same idea performs at 2%.</a:t>
            </a:r>
          </a:p>
          <a:p>
            <a:pPr marL="237744" indent="-237744">
              <a:spcAft>
                <a:spcPts val="800"/>
              </a:spcAft>
              <a:buChar char="•"/>
            </a:pPr>
            <a:r>
              <a:rPr sz="1350" b="0">
                <a:solidFill>
                  <a:srgbClr val="222222"/>
                </a:solidFill>
              </a:rPr>
              <a:t>Cue precision varies from 100% ("that's wrong", n=5) to 37% ("incorrect", n=59). If we keep a lexical pass, cues must be weighted, and a semantic stage must do the rest.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A second corpus: 300 real pushback cases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7160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548"/>
                <a:gridCol w="5527548"/>
              </a:tblGrid>
              <a:tr h="5225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Property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Cases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300, from 14 WildChat parquet shards (revision 7d6490e)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Structure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target turn is always the last message, always a user turn, always preceded by an assistant answer (300/300)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Context before the pushback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median 1,650 chars (max 6,467) — replay-ready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Human coding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none — team coding notes empty in all 300 rows</a:t>
                      </a:r>
                    </a:p>
                  </a:txBody>
                  <a:tcPr marL="54864" marR="54864"/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Correctness labels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none</a:t>
                      </a:r>
                    </a:p>
                  </a:txBody>
                  <a:tcPr marL="54864" marR="54864"/>
                </a:tc>
              </a:tr>
              <a:tr h="5225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AI prescreen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100/100 sampled cases independently confirmed as pushback [96, 100]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3886200"/>
            <a:ext cx="1105509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800"/>
              </a:spcAft>
              <a:buChar char="•"/>
            </a:pPr>
            <a:r>
              <a:rPr sz="1400" b="0">
                <a:solidFill>
                  <a:srgbClr val="222222"/>
                </a:solidFill>
              </a:rPr>
              <a:t>This is the Phase 1 sample the proposal promised, with context. It needs coding, not collection.</a:t>
            </a:r>
          </a:p>
          <a:p>
            <a:pPr marL="237744" indent="-237744">
              <a:spcAft>
                <a:spcPts val="800"/>
              </a:spcAft>
              <a:buChar char="•"/>
            </a:pPr>
            <a:r>
              <a:rPr sz="1400" b="0">
                <a:solidFill>
                  <a:srgbClr val="222222"/>
                </a:solidFill>
              </a:rPr>
              <a:t>It also supplies three things the project lacked: a codeable corpus, a classifier test set, and the replay arm on the next slide.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The 10-code scheme reproduces — except bare disagreement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41732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2516"/>
                <a:gridCol w="1842516"/>
                <a:gridCol w="1842516"/>
                <a:gridCol w="1842516"/>
                <a:gridCol w="1842516"/>
                <a:gridCol w="1842516"/>
              </a:tblGrid>
              <a:tr h="60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Cohen's κ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Cohen's κ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P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repeated insistence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0.90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L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reasoning challenge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0.76</a:t>
                      </a:r>
                    </a:p>
                  </a:txBody>
                  <a:tcPr marL="54864" marR="54864"/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S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authority/source appeal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0.89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A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alternative claim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0.71</a:t>
                      </a:r>
                    </a:p>
                  </a:txBody>
                  <a:tcPr marL="54864" marR="54864"/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counter-evidence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0.84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T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task correction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0.70</a:t>
                      </a:r>
                    </a:p>
                  </a:txBody>
                  <a:tcPr marL="54864" marR="54864"/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I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inconsistency challenge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0.83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frustration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0.57</a:t>
                      </a:r>
                    </a:p>
                  </a:txBody>
                  <a:tcPr marL="54864" marR="54864"/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R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recheck request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0.81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B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bare disagreement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0.26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4160520"/>
            <a:ext cx="11055096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800"/>
              </a:spcAft>
              <a:buChar char="•"/>
            </a:pPr>
            <a:r>
              <a:rPr sz="1350" b="0">
                <a:solidFill>
                  <a:srgbClr val="222222"/>
                </a:solidFill>
              </a:rPr>
              <a:t>Two independent AI passes over all 300 turns. Identical code set 37.3%; adding the workbook's own exclusion rule for B raises that to 47.3% and B's κ to 0.40.</a:t>
            </a:r>
          </a:p>
          <a:p>
            <a:pPr marL="237744" indent="-237744">
              <a:spcAft>
                <a:spcPts val="800"/>
              </a:spcAft>
              <a:buChar char="•"/>
            </a:pPr>
            <a:r>
              <a:rPr sz="1350" b="0">
                <a:solidFill>
                  <a:srgbClr val="222222"/>
                </a:solidFill>
              </a:rPr>
              <a:t>Bare disagreement is the one code that cannot carry a claim until it is sharpened or dropped. These κ values are an upper bound: AI coders agree more than humans will.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The floor was the design, not the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417320"/>
          <a:ext cx="1105509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548"/>
                <a:gridCol w="5527548"/>
              </a:tblGrid>
              <a:tr h="731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Adoption / capitulation</a:t>
                      </a:r>
                    </a:p>
                  </a:txBody>
                  <a:tcPr>
                    <a:solidFill>
                      <a:srgbClr val="13294B"/>
                    </a:solidFill>
                  </a:tcPr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Our pilot — supplied history, single turn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0–8%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PushbackChat — 2,309 real events, published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67.0–77.1%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This replay — deepseek-flash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78.3%  [73, 83]</a:t>
                      </a:r>
                    </a:p>
                  </a:txBody>
                  <a:tcPr marL="54864" marR="54864"/>
                </a:tc>
              </a:tr>
              <a:tr h="7315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This replay — deepseek-v4-pro</a:t>
                      </a:r>
                    </a:p>
                  </a:txBody>
                  <a:tcPr marL="54864" marR="54864"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71.9%  [67, 77]</a:t>
                      </a:r>
                    </a:p>
                  </a:txBody>
                  <a:tcPr marL="54864" marR="5486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3246120"/>
            <a:ext cx="11055096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700"/>
              </a:spcAft>
              <a:buChar char="•"/>
            </a:pPr>
            <a:r>
              <a:rPr sz="1300" b="0">
                <a:solidFill>
                  <a:srgbClr val="222222"/>
                </a:solidFill>
              </a:rPr>
              <a:t>600 trials: 300 real conversations × 2 models, full original context replayed up to the pushback. The same models adopt real pushback at published rates.</a:t>
            </a:r>
          </a:p>
          <a:p>
            <a:pPr marL="237744" indent="-237744">
              <a:spcAft>
                <a:spcPts val="700"/>
              </a:spcAft>
              <a:buChar char="•"/>
            </a:pPr>
            <a:r>
              <a:rPr sz="1300" b="0">
                <a:solidFill>
                  <a:srgbClr val="222222"/>
                </a:solidFill>
              </a:rPr>
              <a:t>Type matters: bare disagreement 87.7% vs reasoning challenge 63.0%. Substantive reasoning resists adoption; vague disagreement invites it.</a:t>
            </a:r>
          </a:p>
          <a:p>
            <a:pPr marL="237744" indent="-237744">
              <a:spcAft>
                <a:spcPts val="700"/>
              </a:spcAft>
              <a:buChar char="•"/>
            </a:pPr>
            <a:r>
              <a:rPr sz="1300" b="0">
                <a:solidFill>
                  <a:srgbClr val="222222"/>
                </a:solidFill>
              </a:rPr>
              <a:t>86–89% of replies add new reasoning — models rationalise rather than merely agree.</a:t>
            </a:r>
          </a:p>
          <a:p>
            <a:pPr marL="237744" indent="-237744">
              <a:spcAft>
                <a:spcPts val="700"/>
              </a:spcAft>
              <a:buChar char="•"/>
            </a:pPr>
            <a:r>
              <a:rPr sz="1300" b="0">
                <a:solidFill>
                  <a:srgbClr val="222222"/>
                </a:solidFill>
              </a:rPr>
              <a:t>Adoption is not harmful adoption. Without correctness labels we cannot say how often a correct answer was abandoned.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55096" cy="841248"/>
          </a:xfrm>
        </p:spPr>
        <p:txBody>
          <a:bodyPr/>
          <a:lstStyle/>
          <a:p>
            <a:r>
              <a:rPr sz="2800" b="1">
                <a:solidFill>
                  <a:srgbClr val="13294B"/>
                </a:solidFill>
              </a:rPr>
              <a:t>What this changes in the remaining weeks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80160"/>
            <a:ext cx="1105509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744" indent="-237744">
              <a:spcAft>
                <a:spcPts val="1000"/>
              </a:spcAft>
              <a:buChar char="•"/>
            </a:pPr>
            <a:r>
              <a:rPr sz="1400" b="1">
                <a:solidFill>
                  <a:srgbClr val="222222"/>
                </a:solidFill>
              </a:rPr>
              <a:t>1. Phase 1 becomes semantic retrieval plus human coding.</a:t>
            </a:r>
          </a:p>
          <a:p>
            <a:pPr lvl="1" marL="512064" indent="-201168">
              <a:spcAft>
                <a:spcPts val="1000"/>
              </a:spcAft>
              <a:buChar char="–"/>
            </a:pPr>
            <a:r>
              <a:rPr sz="1300" b="0">
                <a:solidFill>
                  <a:srgbClr val="222222"/>
                </a:solidFill>
              </a:rPr>
              <a:t>A weighted lexical pre-filter at 58% precision can seed candidates, but it cannot be the sampling strategy. Recall at 2% would make the corpus a biased slice.</a:t>
            </a:r>
          </a:p>
          <a:p>
            <a:pPr marL="237744" indent="-237744">
              <a:spcAft>
                <a:spcPts val="1000"/>
              </a:spcAft>
              <a:buChar char="•"/>
            </a:pPr>
            <a:r>
              <a:rPr sz="1400" b="1">
                <a:solidFill>
                  <a:srgbClr val="222222"/>
                </a:solidFill>
              </a:rPr>
              <a:t>2. Adopt natural-context replay as the primary design — now with verified answers.</a:t>
            </a:r>
          </a:p>
          <a:p>
            <a:pPr lvl="1" marL="512064" indent="-201168">
              <a:spcAft>
                <a:spcPts val="1000"/>
              </a:spcAft>
              <a:buChar char="–"/>
            </a:pPr>
            <a:r>
              <a:rPr sz="1300" b="0">
                <a:solidFill>
                  <a:srgbClr val="222222"/>
                </a:solidFill>
              </a:rPr>
              <a:t>It restores adoption to 72–78%, matching the published range, so the measurement has room. The remaining gap is correctness labels: without them adoption cannot be split into harmful and harmless.</a:t>
            </a:r>
          </a:p>
          <a:p>
            <a:pPr marL="237744" indent="-237744">
              <a:spcAft>
                <a:spcPts val="1000"/>
              </a:spcAft>
              <a:buChar char="•"/>
            </a:pPr>
            <a:r>
              <a:rPr sz="1400" b="1">
                <a:solidFill>
                  <a:srgbClr val="222222"/>
                </a:solidFill>
              </a:rPr>
              <a:t>3. Validate the classifier before claiming type-awareness.</a:t>
            </a:r>
          </a:p>
          <a:p>
            <a:pPr lvl="1" marL="512064" indent="-201168">
              <a:spcAft>
                <a:spcPts val="1000"/>
              </a:spcAft>
              <a:buChar char="–"/>
            </a:pPr>
            <a:r>
              <a:rPr sz="1300" b="0">
                <a:solidFill>
                  <a:srgbClr val="222222"/>
                </a:solidFill>
              </a:rPr>
              <a:t>At 55.9% on real pushback, the type label is closer to noise than signal. Either improve it or drop the type-aware arm to a mechanism study.</a:t>
            </a:r>
          </a:p>
          <a:p>
            <a:pPr marL="237744" indent="-237744">
              <a:spcAft>
                <a:spcPts val="1000"/>
              </a:spcAft>
              <a:buChar char="•"/>
            </a:pPr>
            <a:r>
              <a:rPr sz="1400" b="1">
                <a:solidFill>
                  <a:srgbClr val="222222"/>
                </a:solidFill>
              </a:rPr>
              <a:t>4. Treat published fixes as hypotheses.</a:t>
            </a:r>
          </a:p>
          <a:p>
            <a:pPr lvl="1" marL="512064" indent="-201168">
              <a:spcAft>
                <a:spcPts val="1000"/>
              </a:spcAft>
              <a:buChar char="–"/>
            </a:pPr>
            <a:r>
              <a:rPr sz="1300" b="0">
                <a:solidFill>
                  <a:srgbClr val="222222"/>
                </a:solidFill>
              </a:rPr>
              <a:t>Question reframing degraded performance in our implementation. That is worth reporting and worth understanding — it is a finding, not a problem with our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llini Theme - Newspaper Blue">
  <a:themeElements>
    <a:clrScheme name="Illini Theme">
      <a:dk1>
        <a:srgbClr val="13294B"/>
      </a:dk1>
      <a:lt1>
        <a:srgbClr val="FEFFFF"/>
      </a:lt1>
      <a:dk2>
        <a:srgbClr val="F55F06"/>
      </a:dk2>
      <a:lt2>
        <a:srgbClr val="C8C6C7"/>
      </a:lt2>
      <a:accent1>
        <a:srgbClr val="2870CD"/>
      </a:accent1>
      <a:accent2>
        <a:srgbClr val="3CB3E4"/>
      </a:accent2>
      <a:accent3>
        <a:srgbClr val="F8B316"/>
      </a:accent3>
      <a:accent4>
        <a:srgbClr val="196130"/>
      </a:accent4>
      <a:accent5>
        <a:srgbClr val="267E8D"/>
      </a:accent5>
      <a:accent6>
        <a:srgbClr val="7C3D13"/>
      </a:accent6>
      <a:hlink>
        <a:srgbClr val="C84013"/>
      </a:hlink>
      <a:folHlink>
        <a:srgbClr val="13294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llini Theme - Newspaper ">
  <a:themeElements>
    <a:clrScheme name="Illini Theme">
      <a:dk1>
        <a:srgbClr val="13294B"/>
      </a:dk1>
      <a:lt1>
        <a:srgbClr val="FEFFFF"/>
      </a:lt1>
      <a:dk2>
        <a:srgbClr val="F55F06"/>
      </a:dk2>
      <a:lt2>
        <a:srgbClr val="C8C6C7"/>
      </a:lt2>
      <a:accent1>
        <a:srgbClr val="2870CD"/>
      </a:accent1>
      <a:accent2>
        <a:srgbClr val="3CB3E4"/>
      </a:accent2>
      <a:accent3>
        <a:srgbClr val="F8B316"/>
      </a:accent3>
      <a:accent4>
        <a:srgbClr val="196130"/>
      </a:accent4>
      <a:accent5>
        <a:srgbClr val="267E8D"/>
      </a:accent5>
      <a:accent6>
        <a:srgbClr val="7C3D13"/>
      </a:accent6>
      <a:hlink>
        <a:srgbClr val="C84013"/>
      </a:hlink>
      <a:folHlink>
        <a:srgbClr val="13294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